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8"/>
  </p:notesMasterIdLst>
  <p:handoutMasterIdLst>
    <p:handoutMasterId r:id="rId9"/>
  </p:handoutMasterIdLst>
  <p:sldIdLst>
    <p:sldId id="988202180" r:id="rId5"/>
    <p:sldId id="988202059" r:id="rId6"/>
    <p:sldId id="2147473526" r:id="rId7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988202180"/>
            <p14:sldId id="988202059"/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36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99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85181E-7025-556B-7FAB-D79D7BA87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829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4889E6F-2F0E-7EEA-7A8A-6BA5243105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75409"/>
            <a:ext cx="2871355" cy="280555"/>
          </a:xfrm>
        </p:spPr>
        <p:txBody>
          <a:bodyPr/>
          <a:lstStyle>
            <a:lvl1pPr>
              <a:defRPr sz="2000" b="0"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400204" y="1143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09804" y="11430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400204" y="1752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009804" y="17526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400204" y="2362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09804" y="23622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400204" y="29718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009804" y="29718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400204" y="35814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009804" y="35814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4400204" y="4191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5009804" y="41910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4400204" y="4800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009804" y="48006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4400204" y="5410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5009804" y="5410200"/>
            <a:ext cx="6572596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20077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553" r:id="rId2"/>
    <p:sldLayoutId id="2147484448" r:id="rId3"/>
    <p:sldLayoutId id="2147484450" r:id="rId4"/>
    <p:sldLayoutId id="2147484452" r:id="rId5"/>
    <p:sldLayoutId id="2147484562" r:id="rId6"/>
    <p:sldLayoutId id="2147484464" r:id="rId7"/>
    <p:sldLayoutId id="2147484465" r:id="rId8"/>
    <p:sldLayoutId id="2147484466" r:id="rId9"/>
    <p:sldLayoutId id="2147484468" r:id="rId10"/>
    <p:sldLayoutId id="2147484461" r:id="rId11"/>
    <p:sldLayoutId id="2147484479" r:id="rId12"/>
    <p:sldLayoutId id="2147484571" r:id="rId13"/>
    <p:sldLayoutId id="2147484481" r:id="rId14"/>
    <p:sldLayoutId id="2147484474" r:id="rId15"/>
    <p:sldLayoutId id="2147484482" r:id="rId16"/>
    <p:sldLayoutId id="2147484475" r:id="rId17"/>
    <p:sldLayoutId id="2147484498" r:id="rId18"/>
    <p:sldLayoutId id="2147484499" r:id="rId19"/>
    <p:sldLayoutId id="2147484500" r:id="rId20"/>
    <p:sldLayoutId id="2147484501" r:id="rId21"/>
    <p:sldLayoutId id="2147484502" r:id="rId22"/>
    <p:sldLayoutId id="2147484503" r:id="rId23"/>
    <p:sldLayoutId id="2147484507" r:id="rId24"/>
    <p:sldLayoutId id="2147484567" r:id="rId25"/>
    <p:sldLayoutId id="2147484509" r:id="rId26"/>
    <p:sldLayoutId id="2147484522" r:id="rId27"/>
    <p:sldLayoutId id="2147484524" r:id="rId28"/>
    <p:sldLayoutId id="2147484525" r:id="rId29"/>
    <p:sldLayoutId id="2147484526" r:id="rId30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D68623B-A75C-6FCA-8B10-B69467F53E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AF01C7-37AC-9C47-439D-0111277F4B2D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BF09DC-2046-2703-96DB-5CAFFB8DE350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5D7CFC-2838-E03D-3215-1B5C88E317E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F8EA672-16F2-62AA-2B10-6261F628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37" y="4075820"/>
            <a:ext cx="10519138" cy="609398"/>
          </a:xfr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4400" b="0" dirty="0"/>
              <a:t>Lancaster County Adult Detention Facility</a:t>
            </a:r>
            <a:endParaRPr lang="en-US" sz="3600" b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495B2D9F-07E5-96FA-D395-EDD4D3D59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614916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47714-B0B8-83EB-0951-574A8FBBD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610600" y="6353857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HDR 2025, all rights reserved.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0FDBB01-5FFE-D57B-025D-A04B538026D2}"/>
              </a:ext>
            </a:extLst>
          </p:cNvPr>
          <p:cNvSpPr txBox="1">
            <a:spLocks/>
          </p:cNvSpPr>
          <p:nvPr/>
        </p:nvSpPr>
        <p:spPr>
          <a:xfrm>
            <a:off x="691953" y="4685218"/>
            <a:ext cx="10972800" cy="2769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000" spc="300" dirty="0">
                <a:latin typeface="Arial Narrow" panose="020B0606020202030204" pitchFamily="34" charset="0"/>
              </a:rPr>
              <a:t>Census Trend Analyses</a:t>
            </a:r>
            <a:endParaRPr lang="en-US" sz="4000" b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91A2A5D-20F2-E849-AA4E-95D2F753B9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Aug 18</a:t>
            </a:r>
            <a:r>
              <a:rPr lang="en-US" baseline="30000" dirty="0"/>
              <a:t>th</a:t>
            </a:r>
            <a:r>
              <a:rPr lang="en-US" dirty="0"/>
              <a:t> , 2026</a:t>
            </a:r>
          </a:p>
        </p:txBody>
      </p:sp>
    </p:spTree>
    <p:extLst>
      <p:ext uri="{BB962C8B-B14F-4D97-AF65-F5344CB8AC3E}">
        <p14:creationId xmlns:p14="http://schemas.microsoft.com/office/powerpoint/2010/main" val="260598630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31453-EE7B-E238-6586-C60053EEB0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00204" y="1835349"/>
            <a:ext cx="533400" cy="381000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D61B4-BFA0-D216-85EF-1CDB451AD7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9804" y="1828451"/>
            <a:ext cx="6572596" cy="381000"/>
          </a:xfrm>
        </p:spPr>
        <p:txBody>
          <a:bodyPr/>
          <a:lstStyle/>
          <a:p>
            <a:pPr lvl="0">
              <a:spcBef>
                <a:spcPts val="2500"/>
              </a:spcBef>
            </a:pPr>
            <a:r>
              <a:rPr lang="en-US" sz="2400" b="1" dirty="0"/>
              <a:t>Estimated Population Growth Overview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B12081-9549-3465-22C3-D38C18C312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00204" y="2377369"/>
            <a:ext cx="533400" cy="381000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107224-E448-BB6E-AAA2-97EAB41604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9804" y="2370471"/>
            <a:ext cx="6572596" cy="381000"/>
          </a:xfrm>
        </p:spPr>
        <p:txBody>
          <a:bodyPr/>
          <a:lstStyle/>
          <a:p>
            <a:pPr lvl="0">
              <a:spcBef>
                <a:spcPts val="2500"/>
              </a:spcBef>
            </a:pPr>
            <a:r>
              <a:rPr lang="en-US" sz="2400" b="1" dirty="0"/>
              <a:t>Current State Analysis: Jul 24 – May 26 </a:t>
            </a:r>
          </a:p>
          <a:p>
            <a:endParaRPr lang="en-US" sz="2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F526C93-8369-7D9D-2C19-42D8F7A283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94344" y="1293329"/>
            <a:ext cx="533400" cy="381000"/>
          </a:xfrm>
        </p:spPr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A38000-FC5A-801F-6072-464DAF0D71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03944" y="1286431"/>
            <a:ext cx="6572596" cy="381000"/>
          </a:xfrm>
        </p:spPr>
        <p:txBody>
          <a:bodyPr/>
          <a:lstStyle/>
          <a:p>
            <a:pPr lvl="0">
              <a:spcBef>
                <a:spcPts val="2500"/>
              </a:spcBef>
            </a:pPr>
            <a:r>
              <a:rPr lang="en-US" sz="2400" b="1" dirty="0"/>
              <a:t>Project Overview and Data Scope</a:t>
            </a: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15524F87-57BA-014E-7839-C866D9BBF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899" y="597707"/>
            <a:ext cx="2871355" cy="48013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800" noProof="0"/>
              <a:t>Agenda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F7D408-B8D0-D9A4-8AB4-875E1DAD4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074127" y="860075"/>
            <a:ext cx="10117873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4ED405-9B8F-783F-0044-23F3209A9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1" y="-11541"/>
            <a:ext cx="0" cy="694760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01ACD7B-A73C-F7D6-F5EE-B527CD355AC9}"/>
              </a:ext>
            </a:extLst>
          </p:cNvPr>
          <p:cNvSpPr txBox="1">
            <a:spLocks/>
          </p:cNvSpPr>
          <p:nvPr/>
        </p:nvSpPr>
        <p:spPr>
          <a:xfrm>
            <a:off x="4394344" y="5584620"/>
            <a:ext cx="533400" cy="38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b="1" kern="1200" spc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B5E9DAB-BE6C-BFF5-E262-EF8C00553E58}"/>
              </a:ext>
            </a:extLst>
          </p:cNvPr>
          <p:cNvSpPr txBox="1">
            <a:spLocks/>
          </p:cNvSpPr>
          <p:nvPr/>
        </p:nvSpPr>
        <p:spPr>
          <a:xfrm>
            <a:off x="5003944" y="5584620"/>
            <a:ext cx="6572596" cy="38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b="0" kern="1200" spc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B883E84-7E82-5D77-17F0-8A7E32AC92A9}"/>
              </a:ext>
            </a:extLst>
          </p:cNvPr>
          <p:cNvSpPr txBox="1">
            <a:spLocks/>
          </p:cNvSpPr>
          <p:nvPr/>
        </p:nvSpPr>
        <p:spPr>
          <a:xfrm>
            <a:off x="4413706" y="2877012"/>
            <a:ext cx="533400" cy="38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b="1" kern="1200" spc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04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BD8E2F4-6EB6-E794-C98F-D2B94F98329D}"/>
              </a:ext>
            </a:extLst>
          </p:cNvPr>
          <p:cNvSpPr txBox="1">
            <a:spLocks/>
          </p:cNvSpPr>
          <p:nvPr/>
        </p:nvSpPr>
        <p:spPr>
          <a:xfrm>
            <a:off x="5023306" y="2904839"/>
            <a:ext cx="6572596" cy="38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b="0" kern="1200" spc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</a:pPr>
            <a:r>
              <a:rPr lang="en-US" sz="2400" b="1" dirty="0"/>
              <a:t>Census Model: Jul 24 – May 26</a:t>
            </a:r>
          </a:p>
          <a:p>
            <a:endParaRPr lang="en-US" sz="24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CCA627C-5E0B-0DC0-C568-96D9654F5F81}"/>
              </a:ext>
            </a:extLst>
          </p:cNvPr>
          <p:cNvSpPr txBox="1">
            <a:spLocks/>
          </p:cNvSpPr>
          <p:nvPr/>
        </p:nvSpPr>
        <p:spPr>
          <a:xfrm>
            <a:off x="4413706" y="3372312"/>
            <a:ext cx="533400" cy="38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b="1" kern="1200" spc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05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4CE045B-3E53-4BF9-8824-ADC723F6D53F}"/>
              </a:ext>
            </a:extLst>
          </p:cNvPr>
          <p:cNvSpPr txBox="1">
            <a:spLocks/>
          </p:cNvSpPr>
          <p:nvPr/>
        </p:nvSpPr>
        <p:spPr>
          <a:xfrm>
            <a:off x="5023306" y="3400139"/>
            <a:ext cx="6572596" cy="38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b="0" kern="1200" spc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</a:pPr>
            <a:r>
              <a:rPr lang="en-US" sz="2400" b="1" dirty="0"/>
              <a:t>Census Model Methodology Review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763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3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DA1E0-173F-F920-AC51-BD06291225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5475"/>
            <a:ext cx="12192000" cy="522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BD5F04-9810-0EC4-D840-BB9921B999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412"/>
            <a:ext cx="11887224" cy="228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CA9CB4-BDBA-6578-C474-BF09F49BE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573" y="4573423"/>
            <a:ext cx="2862078" cy="1280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D1ED45-B60B-A976-53B5-CA0D01E505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977" y="4308247"/>
            <a:ext cx="2069596" cy="154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2341</TotalTime>
  <Words>67</Words>
  <Application>Microsoft Office PowerPoint</Application>
  <PresentationFormat>Widescreen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Narrow</vt:lpstr>
      <vt:lpstr>Calibri</vt:lpstr>
      <vt:lpstr>HDR_Whitebkg_Blue</vt:lpstr>
      <vt:lpstr>Lancaster County Adult Detention Facility</vt:lpstr>
      <vt:lpstr>Agenda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4</cp:revision>
  <cp:lastPrinted>2024-03-19T13:40:49Z</cp:lastPrinted>
  <dcterms:created xsi:type="dcterms:W3CDTF">2025-05-06T17:20:06Z</dcterms:created>
  <dcterms:modified xsi:type="dcterms:W3CDTF">2026-08-18T13:04:07Z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